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D43B"/>
                </a:solidFill>
                <a:latin typeface="Calibri"/>
              </a:defRPr>
            </a:pPr>
            <a:r>
              <a:t>Python Turns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The Language That Refused to 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8BBE"/>
                </a:solidFill>
                <a:latin typeface="Calibri"/>
              </a:defRPr>
            </a:pPr>
            <a:r>
              <a:t>1991  --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Wallace Espindola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Senior Software Engineer | Brussels, Belgium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8BBE"/>
                </a:solidFill>
                <a:latin typeface="Calibri"/>
              </a:defRPr>
            </a:pPr>
            <a:r>
              <a:t>speakerdeck.com/wallacese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alibri"/>
              </a:defRPr>
            </a:pPr>
            <a:r>
              <a:t>Few Languages Survive This Long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Most programming languages fade within a decade.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2000" b="0">
                <a:solidFill>
                  <a:srgbClr val="C9D1D9"/>
                </a:solidFill>
                <a:latin typeface="Calibri"/>
              </a:defRPr>
            </a:pPr>
            <a:r>
              <a:t>Python went through five paradigm shifts and came out stronger after each one: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2000" b="0">
                <a:solidFill>
                  <a:srgbClr val="FFD43B"/>
                </a:solidFill>
                <a:latin typeface="Calibri"/>
              </a:defRPr>
            </a:pPr>
            <a:r>
              <a:t>  Desktop computing</a:t>
            </a:r>
          </a:p>
          <a:p>
            <a:pPr>
              <a:spcBef>
                <a:spcPts val="1000"/>
              </a:spcBef>
              <a:defRPr sz="2000">
                <a:solidFill>
                  <a:srgbClr val="FFD43B"/>
                </a:solidFill>
                <a:latin typeface="Calibri"/>
              </a:defRPr>
            </a:pPr>
            <a:r>
              <a:t>  The internet era</a:t>
            </a:r>
          </a:p>
          <a:p>
            <a:pPr>
              <a:spcBef>
                <a:spcPts val="1000"/>
              </a:spcBef>
              <a:defRPr sz="2000">
                <a:solidFill>
                  <a:srgbClr val="FFD43B"/>
                </a:solidFill>
                <a:latin typeface="Calibri"/>
              </a:defRPr>
            </a:pPr>
            <a:r>
              <a:t>  Cloud platforms</a:t>
            </a:r>
          </a:p>
          <a:p>
            <a:pPr>
              <a:spcBef>
                <a:spcPts val="1000"/>
              </a:spcBef>
              <a:defRPr sz="2000">
                <a:solidFill>
                  <a:srgbClr val="FFD43B"/>
                </a:solidFill>
                <a:latin typeface="Calibri"/>
              </a:defRPr>
            </a:pPr>
            <a:r>
              <a:t>  Mobile</a:t>
            </a:r>
          </a:p>
          <a:p>
            <a:pPr>
              <a:spcBef>
                <a:spcPts val="1000"/>
              </a:spcBef>
              <a:defRPr sz="2000">
                <a:solidFill>
                  <a:srgbClr val="FFD43B"/>
                </a:solidFill>
                <a:latin typeface="Calibri"/>
              </a:defRPr>
            </a:pPr>
            <a:r>
              <a:t> 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06998"/>
                </a:solidFill>
                <a:latin typeface="Calibri"/>
              </a:defRPr>
            </a:pPr>
            <a:r>
              <a:t>Phase 1: Scripting &amp; Academia (1991-2000)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000" b="0">
                <a:solidFill>
                  <a:srgbClr val="C9D1D9"/>
                </a:solidFill>
                <a:latin typeface="Calibri"/>
              </a:defRPr>
            </a:pPr>
            <a:r>
              <a:t>  Guido van Rossum created Python as a cleaner alternative to C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Highly readable, indentation-based syntax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Built-in standard library for immediate use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Adopted as a teaching language in universities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06998"/>
                </a:solidFill>
                <a:latin typeface="Calibri"/>
              </a:defRPr>
            </a:pPr>
            <a:r>
              <a:t>Identity: "A better scripting language"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B8BBE"/>
                </a:solidFill>
                <a:latin typeface="Calibri"/>
              </a:defRPr>
            </a:pPr>
            <a:r>
              <a:t>Phase 2: Web &amp; Open Source (2000-2010)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4B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000" b="0">
                <a:solidFill>
                  <a:srgbClr val="C9D1D9"/>
                </a:solidFill>
                <a:latin typeface="Calibri"/>
              </a:defRPr>
            </a:pPr>
            <a:r>
              <a:t>  Django framework (2005) and Flask (2010)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Linux ecosystem integration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Startup adoption wave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Competing with PHP, Ruby and early Java stacks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8BBE"/>
                </a:solidFill>
                <a:latin typeface="Calibri"/>
              </a:defRPr>
            </a:pPr>
            <a:r>
              <a:t>Identity: "Web productivity language"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D43B"/>
                </a:solidFill>
                <a:latin typeface="Calibri"/>
              </a:defRPr>
            </a:pPr>
            <a:r>
              <a:t>Phase 3: Data Science &amp; AI (2010-2020)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000" b="0">
                <a:solidFill>
                  <a:srgbClr val="C9D1D9"/>
                </a:solidFill>
                <a:latin typeface="Calibri"/>
              </a:defRPr>
            </a:pPr>
            <a:r>
              <a:t>  NumPy, Pandas, SciPy for scientific computing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Jupyter Notebooks changed how we explore data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TensorFlow and PyTorch standardized ML on Python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Machine learning became synonymous 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43B"/>
                </a:solidFill>
                <a:latin typeface="Calibri"/>
              </a:defRPr>
            </a:pPr>
            <a:r>
              <a:t>Identity: "The language of data and AI"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8584A"/>
                </a:solidFill>
                <a:latin typeface="Calibri"/>
              </a:defRPr>
            </a:pPr>
            <a:r>
              <a:t>Phase 4: Platform &amp; Cloud (2020-Present)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E85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000" b="0">
                <a:solidFill>
                  <a:srgbClr val="C9D1D9"/>
                </a:solidFill>
                <a:latin typeface="Calibri"/>
              </a:defRPr>
            </a:pPr>
            <a:r>
              <a:t>  FastAPI for modern backend services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Cloud automation and DevOps tooling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AI orchestration (LangChain, agents, LLMs)</a:t>
            </a:r>
          </a:p>
          <a:p>
            <a:pPr>
              <a:spcBef>
                <a:spcPts val="1200"/>
              </a:spcBef>
              <a:defRPr sz="2000">
                <a:solidFill>
                  <a:srgbClr val="C9D1D9"/>
                </a:solidFill>
                <a:latin typeface="Calibri"/>
              </a:defRPr>
            </a:pPr>
            <a:r>
              <a:t>  Cybersecurity tooling and education at global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84A"/>
                </a:solidFill>
                <a:latin typeface="Calibri"/>
              </a:defRPr>
            </a:pPr>
            <a:r>
              <a:t>Identity: "Universal integration language"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alibri"/>
              </a:defRPr>
            </a:pPr>
            <a:r>
              <a:t>Why Did Python Survive 35 Years?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defRPr sz="2000" b="0">
                <a:solidFill>
                  <a:srgbClr val="C9D1D9"/>
                </a:solidFill>
                <a:latin typeface="Calibri"/>
              </a:defRPr>
            </a:pPr>
            <a:r>
              <a:rPr sz="2000" b="1">
                <a:solidFill>
                  <a:srgbClr val="FFD43B"/>
                </a:solidFill>
                <a:latin typeface="Calibri"/>
              </a:rPr>
              <a:t>1. </a:t>
            </a:r>
            <a:r>
              <a:rPr sz="2000" b="1">
                <a:solidFill>
                  <a:srgbClr val="FFFFFF"/>
                </a:solidFill>
                <a:latin typeface="Calibri"/>
              </a:rPr>
              <a:t>Human-centered design</a:t>
            </a:r>
            <a:r>
              <a:rPr sz="1800">
                <a:solidFill>
                  <a:srgbClr val="8B949E"/>
                </a:solidFill>
                <a:latin typeface="Calibri"/>
              </a:rPr>
              <a:t>  --  readability over cleverness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FFD43B"/>
                </a:solidFill>
                <a:latin typeface="Calibri"/>
              </a:rPr>
              <a:t>2. </a:t>
            </a:r>
            <a:r>
              <a:rPr sz="2000" b="1">
                <a:solidFill>
                  <a:srgbClr val="FFFFFF"/>
                </a:solidFill>
                <a:latin typeface="Calibri"/>
              </a:rPr>
              <a:t>Batteries included</a:t>
            </a:r>
            <a:r>
              <a:rPr sz="1800">
                <a:solidFill>
                  <a:srgbClr val="8B949E"/>
                </a:solidFill>
                <a:latin typeface="Calibri"/>
              </a:rPr>
              <a:t>  --  standard library for immediate productivity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FFD43B"/>
                </a:solidFill>
                <a:latin typeface="Calibri"/>
              </a:rPr>
              <a:t>3. </a:t>
            </a:r>
            <a:r>
              <a:rPr sz="2000" b="1">
                <a:solidFill>
                  <a:srgbClr val="FFFFFF"/>
                </a:solidFill>
                <a:latin typeface="Calibri"/>
              </a:rPr>
              <a:t>Ecosystem network effects</a:t>
            </a:r>
            <a:r>
              <a:rPr sz="1800">
                <a:solidFill>
                  <a:srgbClr val="8B949E"/>
                </a:solidFill>
                <a:latin typeface="Calibri"/>
              </a:rPr>
              <a:t>  --  universities + startups + researchers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FFD43B"/>
                </a:solidFill>
                <a:latin typeface="Calibri"/>
              </a:rPr>
              <a:t>4. </a:t>
            </a:r>
            <a:r>
              <a:rPr sz="2000" b="1">
                <a:solidFill>
                  <a:srgbClr val="FFFFFF"/>
                </a:solidFill>
                <a:latin typeface="Calibri"/>
              </a:rPr>
              <a:t>Low barrier of entry</a:t>
            </a:r>
            <a:r>
              <a:rPr sz="1800">
                <a:solidFill>
                  <a:srgbClr val="8B949E"/>
                </a:solidFill>
                <a:latin typeface="Calibri"/>
              </a:rPr>
              <a:t>  --  constantly renewing its developer base</a:t>
            </a:r>
          </a:p>
          <a:p>
            <a:pPr>
              <a:spcBef>
                <a:spcPts val="1800"/>
              </a:spcBef>
            </a:pPr>
            <a:r>
              <a:rPr sz="2000" b="1">
                <a:solidFill>
                  <a:srgbClr val="FFD43B"/>
                </a:solidFill>
                <a:latin typeface="Calibri"/>
              </a:rPr>
              <a:t>5. </a:t>
            </a:r>
            <a:r>
              <a:rPr sz="2000" b="1">
                <a:solidFill>
                  <a:srgbClr val="FFFFFF"/>
                </a:solidFill>
                <a:latin typeface="Calibri"/>
              </a:rPr>
              <a:t>Adaptability</a:t>
            </a:r>
            <a:r>
              <a:rPr sz="1800">
                <a:solidFill>
                  <a:srgbClr val="8B949E"/>
                </a:solidFill>
                <a:latin typeface="Calibri"/>
              </a:rPr>
              <a:t>  --  absorbed new paradigms instead of resisting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alibri"/>
              </a:defRPr>
            </a:pPr>
            <a:r>
              <a:t>Python's Strong Points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  <a:defRPr sz="2000" b="0">
                <a:solidFill>
                  <a:srgbClr val="C9D1D9"/>
                </a:solidFill>
                <a:latin typeface="Calibri"/>
              </a:defRPr>
            </a:pPr>
            <a:r>
              <a:rPr sz="2000" b="1">
                <a:solidFill>
                  <a:srgbClr val="FFD43B"/>
                </a:solidFill>
                <a:latin typeface="Calibri"/>
              </a:rPr>
              <a:t>  Developer productivity</a:t>
            </a:r>
            <a:r>
              <a:rPr sz="1800">
                <a:solidFill>
                  <a:srgbClr val="C9D1D9"/>
                </a:solidFill>
                <a:latin typeface="Calibri"/>
              </a:rPr>
              <a:t>  --  extremely high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D43B"/>
                </a:solidFill>
                <a:latin typeface="Calibri"/>
              </a:rPr>
              <a:t>  AI and ML dominance</a:t>
            </a:r>
            <a:r>
              <a:rPr sz="1800">
                <a:solidFill>
                  <a:srgbClr val="C9D1D9"/>
                </a:solidFill>
                <a:latin typeface="Calibri"/>
              </a:rPr>
              <a:t>  --  the default language for the field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D43B"/>
                </a:solidFill>
                <a:latin typeface="Calibri"/>
              </a:rPr>
              <a:t>  Open-source ecosystem</a:t>
            </a:r>
            <a:r>
              <a:rPr sz="1800">
                <a:solidFill>
                  <a:srgbClr val="C9D1D9"/>
                </a:solidFill>
                <a:latin typeface="Calibri"/>
              </a:rPr>
              <a:t>  --  PyPI with 500k+ packages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D43B"/>
                </a:solidFill>
                <a:latin typeface="Calibri"/>
              </a:rPr>
              <a:t>  Cross-domain reach</a:t>
            </a:r>
            <a:r>
              <a:rPr sz="1800">
                <a:solidFill>
                  <a:srgbClr val="C9D1D9"/>
                </a:solidFill>
                <a:latin typeface="Calibri"/>
              </a:rPr>
              <a:t>  --  web, data, DevOps, security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D43B"/>
                </a:solidFill>
                <a:latin typeface="Calibri"/>
              </a:rPr>
              <a:t>  Prototyping speed</a:t>
            </a:r>
            <a:r>
              <a:rPr sz="1800">
                <a:solidFill>
                  <a:srgbClr val="C9D1D9"/>
                </a:solidFill>
                <a:latin typeface="Calibri"/>
              </a:rPr>
              <a:t>  --  idea to working code, fast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FFD43B"/>
                </a:solidFill>
                <a:latin typeface="Calibri"/>
              </a:rPr>
              <a:t>  Orchestration</a:t>
            </a:r>
            <a:r>
              <a:rPr sz="1800">
                <a:solidFill>
                  <a:srgbClr val="C9D1D9"/>
                </a:solidFill>
                <a:latin typeface="Calibri"/>
              </a:rPr>
              <a:t>  --  ideal glue language for connecting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Python excels where experimentation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alibri"/>
              </a:defRPr>
            </a:pPr>
            <a:r>
              <a:t>Opportunities to Improve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43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No-GIL evolution, better JIT</a:t>
            </a:r>
            <a:br/>
            <a:r>
              <a:t>compilation underway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43B"/>
                </a:solidFill>
                <a:latin typeface="Calibri"/>
              </a:defRPr>
            </a:pPr>
            <a:r>
              <a:t>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pip, poetry, uv, conda --</a:t>
            </a:r>
            <a:br/>
            <a:r>
              <a:t>standardization in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43B"/>
                </a:solidFill>
                <a:latin typeface="Calibri"/>
              </a:defRPr>
            </a:pPr>
            <a:r>
              <a:t>Concurrency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Subinterpreters, experimental</a:t>
            </a:r>
            <a:br/>
            <a:r>
              <a:t>GIL removal coming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43B"/>
                </a:solidFill>
                <a:latin typeface="Calibri"/>
              </a:defRPr>
            </a:pPr>
            <a:r>
              <a:t>Enterprise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Gradual typing adoption</a:t>
            </a:r>
            <a:br/>
            <a:r>
              <a:t>growing steadily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alibri"/>
              </a:defRPr>
            </a:pPr>
            <a:r>
              <a:t>Meanwhile, Java Turns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Created by James Gosling in 1995 -- another rare survivor.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2000" b="0">
                <a:solidFill>
                  <a:srgbClr val="C9D1D9"/>
                </a:solidFill>
                <a:latin typeface="Calibri"/>
              </a:defRPr>
            </a:pPr>
            <a:r>
              <a:t>Java solved enterprise-scale problems first: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2000" b="0">
                <a:solidFill>
                  <a:srgbClr val="E8584A"/>
                </a:solidFill>
                <a:latin typeface="Calibri"/>
              </a:defRPr>
            </a:pPr>
            <a:r>
              <a:t>  JVM portability</a:t>
            </a:r>
          </a:p>
          <a:p>
            <a:pPr>
              <a:spcBef>
                <a:spcPts val="1000"/>
              </a:spcBef>
              <a:defRPr sz="2000">
                <a:solidFill>
                  <a:srgbClr val="E8584A"/>
                </a:solidFill>
                <a:latin typeface="Calibri"/>
              </a:defRPr>
            </a:pPr>
            <a:r>
              <a:t>  Strong static typing</a:t>
            </a:r>
          </a:p>
          <a:p>
            <a:pPr>
              <a:spcBef>
                <a:spcPts val="1000"/>
              </a:spcBef>
              <a:defRPr sz="2000">
                <a:solidFill>
                  <a:srgbClr val="E8584A"/>
                </a:solidFill>
                <a:latin typeface="Calibri"/>
              </a:defRPr>
            </a:pPr>
            <a:r>
              <a:t>  Mature concurrency model</a:t>
            </a:r>
          </a:p>
          <a:p>
            <a:pPr>
              <a:spcBef>
                <a:spcPts val="1000"/>
              </a:spcBef>
              <a:defRPr sz="2000">
                <a:solidFill>
                  <a:srgbClr val="E8584A"/>
                </a:solidFill>
                <a:latin typeface="Calibri"/>
              </a:defRPr>
            </a:pPr>
            <a:r>
              <a:t>  Backward compatibility guarantees</a:t>
            </a:r>
          </a:p>
          <a:p>
            <a:pPr>
              <a:spcBef>
                <a:spcPts val="1000"/>
              </a:spcBef>
              <a:defRPr sz="2000">
                <a:solidFill>
                  <a:srgbClr val="E8584A"/>
                </a:solidFill>
                <a:latin typeface="Calibri"/>
              </a:defRPr>
            </a:pPr>
            <a:r>
              <a:t>  Banking, telecom, government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84A"/>
                </a:solidFill>
                <a:latin typeface="Calibri"/>
              </a:defRPr>
            </a:pPr>
            <a:r>
              <a:t>Identity: "Engineering-first language."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alibri"/>
              </a:defRPr>
            </a:pPr>
            <a:r>
              <a:t>Python at 35 vs Java at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8BBE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8BBE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B8BBE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43B"/>
                </a:solidFill>
                <a:latin typeface="Calibri"/>
              </a:defRPr>
            </a:pPr>
            <a:r>
              <a:t>Developer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584A"/>
                </a:solidFill>
                <a:latin typeface="Calibri"/>
              </a:defRPr>
            </a:pPr>
            <a:r>
              <a:t>System stability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240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43B"/>
                </a:solidFill>
                <a:latin typeface="Calibri"/>
              </a:defRPr>
            </a:pPr>
            <a:r>
              <a:t>Dynamic / Gradual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584A"/>
                </a:solidFill>
                <a:latin typeface="Calibri"/>
              </a:defRPr>
            </a:pPr>
            <a:r>
              <a:t>Static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37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43B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37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584A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8112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AI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43B"/>
                </a:solidFill>
                <a:latin typeface="Calibri"/>
              </a:defRPr>
            </a:pPr>
            <a:r>
              <a:t>Dominant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584A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Concurrency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26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43B"/>
                </a:solidFill>
                <a:latin typeface="Calibri"/>
              </a:defRPr>
            </a:pPr>
            <a:r>
              <a:t>Limited historically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26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584A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069840"/>
            <a:ext cx="106984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Learning Curve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43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584A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9D1D9"/>
                </a:solidFill>
                <a:latin typeface="Calibri"/>
              </a:defRPr>
            </a:pPr>
            <a:r>
              <a:t>Innovation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715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43B"/>
                </a:solidFill>
                <a:latin typeface="Calibri"/>
              </a:defRPr>
            </a:pPr>
            <a:r>
              <a:t>Very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715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584A"/>
                </a:solidFill>
                <a:latin typeface="Calibri"/>
              </a:defRPr>
            </a:pPr>
            <a:r>
              <a:t>Controlled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alibri"/>
              </a:defRPr>
            </a:pPr>
            <a:r>
              <a:t>They Don't Compete -- They Complement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Modern platforms frequently combine both: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584A"/>
                </a:solidFill>
                <a:latin typeface="Calibri"/>
              </a:defRPr>
            </a:pPr>
            <a:r>
              <a:t>Java  for core transactional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43B"/>
                </a:solidFill>
                <a:latin typeface="Calibri"/>
              </a:defRPr>
            </a:pPr>
            <a:r>
              <a:t>Python  for AI, analytics, automation and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Calibri"/>
              </a:defRPr>
            </a:pPr>
            <a:r>
              <a:t>Two different optimization layers: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480560"/>
            <a:ext cx="4114800" cy="1097280"/>
          </a:xfrm>
          <a:prstGeom prst="rect">
            <a:avLst/>
          </a:prstGeom>
          <a:solidFill>
            <a:srgbClr val="2A1515"/>
          </a:solidFill>
          <a:ln w="19050">
            <a:solidFill>
              <a:srgbClr val="E85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584A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D1D9"/>
                </a:solidFill>
                <a:latin typeface="Calibri"/>
              </a:defRPr>
            </a:pPr>
            <a:r>
              <a:t>Infrastructure backbone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4480560"/>
            <a:ext cx="4114800" cy="1097280"/>
          </a:xfrm>
          <a:prstGeom prst="rect">
            <a:avLst/>
          </a:prstGeom>
          <a:solidFill>
            <a:srgbClr val="1A1F15"/>
          </a:solidFill>
          <a:ln w="1905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43B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D1D9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alibri"/>
              </a:defRPr>
            </a:pPr>
            <a:r>
              <a:t>What's Next?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43B"/>
                </a:solidFill>
                <a:latin typeface="Calibri"/>
              </a:defRPr>
            </a:pPr>
            <a:r>
              <a:t>Python (Next Decade)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1800" b="0">
                <a:solidFill>
                  <a:srgbClr val="C9D1D9"/>
                </a:solidFill>
                <a:latin typeface="Calibri"/>
              </a:defRPr>
            </a:pPr>
            <a:r>
              <a:t>  Gradual typing normalization</a:t>
            </a:r>
          </a:p>
          <a:p>
            <a:pPr>
              <a:spcBef>
                <a:spcPts val="1200"/>
              </a:spcBef>
              <a:defRPr sz="1800">
                <a:solidFill>
                  <a:srgbClr val="C9D1D9"/>
                </a:solidFill>
                <a:latin typeface="Calibri"/>
              </a:defRPr>
            </a:pPr>
            <a:r>
              <a:t>  Performance evolution (no-GIL, JIT)</a:t>
            </a:r>
          </a:p>
          <a:p>
            <a:pPr>
              <a:spcBef>
                <a:spcPts val="1200"/>
              </a:spcBef>
              <a:defRPr sz="1800">
                <a:solidFill>
                  <a:srgbClr val="C9D1D9"/>
                </a:solidFill>
                <a:latin typeface="Calibri"/>
              </a:defRPr>
            </a:pPr>
            <a:r>
              <a:t>  AI-native runtime integrations</a:t>
            </a:r>
          </a:p>
          <a:p>
            <a:pPr>
              <a:spcBef>
                <a:spcPts val="1200"/>
              </a:spcBef>
              <a:defRPr sz="1800">
                <a:solidFill>
                  <a:srgbClr val="C9D1D9"/>
                </a:solidFill>
                <a:latin typeface="Calibri"/>
              </a:defRPr>
            </a:pPr>
            <a:r>
              <a:t>  Stronger packaging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584A"/>
                </a:solidFill>
                <a:latin typeface="Calibri"/>
              </a:defRPr>
            </a:pPr>
            <a:r>
              <a:t>Java (Next Decade)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1800" b="0">
                <a:solidFill>
                  <a:srgbClr val="C9D1D9"/>
                </a:solidFill>
                <a:latin typeface="Calibri"/>
              </a:defRPr>
            </a:pPr>
            <a:r>
              <a:t>  Project Loom concurrency</a:t>
            </a:r>
          </a:p>
          <a:p>
            <a:pPr>
              <a:spcBef>
                <a:spcPts val="1200"/>
              </a:spcBef>
              <a:defRPr sz="1800">
                <a:solidFill>
                  <a:srgbClr val="C9D1D9"/>
                </a:solidFill>
                <a:latin typeface="Calibri"/>
              </a:defRPr>
            </a:pPr>
            <a:r>
              <a:t>  Cloud-native optimization</a:t>
            </a:r>
          </a:p>
          <a:p>
            <a:pPr>
              <a:spcBef>
                <a:spcPts val="1200"/>
              </a:spcBef>
              <a:defRPr sz="1800">
                <a:solidFill>
                  <a:srgbClr val="C9D1D9"/>
                </a:solidFill>
                <a:latin typeface="Calibri"/>
              </a:defRPr>
            </a:pPr>
            <a:r>
              <a:t>  Improved developer ergonomics</a:t>
            </a:r>
          </a:p>
          <a:p>
            <a:pPr>
              <a:spcBef>
                <a:spcPts val="1200"/>
              </a:spcBef>
              <a:defRPr sz="1800">
                <a:solidFill>
                  <a:srgbClr val="C9D1D9"/>
                </a:solidFill>
                <a:latin typeface="Calibri"/>
              </a:defRPr>
            </a:pPr>
            <a:r>
              <a:t>  Continued enterprise dominance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54480"/>
            <a:ext cx="19050" cy="292608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8A6FF"/>
                </a:solidFill>
                <a:latin typeface="Calibri"/>
              </a:defRPr>
            </a:pPr>
            <a:r>
              <a:t>The Key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418320" cy="2194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6200" cy="2194560"/>
          </a:xfrm>
          <a:prstGeom prst="rect">
            <a:avLst/>
          </a:prstGeom>
          <a:solidFill>
            <a:srgbClr val="4B8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43B"/>
                </a:solidFill>
                <a:latin typeface="Calibri"/>
              </a:defRPr>
            </a:pPr>
            <a:r>
              <a:t>Python survived by optimizing for humans.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584A"/>
                </a:solidFill>
                <a:latin typeface="Calibri"/>
              </a:defRPr>
            </a:pPr>
            <a:r>
              <a:t>Java survived by optimizing for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Together -- productivity and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Calibri"/>
              </a:defRPr>
            </a:pPr>
            <a:r>
              <a:t>The future isn't about a single dominant language.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000" b="0">
                <a:solidFill>
                  <a:srgbClr val="C9D1D9"/>
                </a:solidFill>
                <a:latin typeface="Calibri"/>
              </a:defRPr>
            </a:pPr>
            <a:r>
              <a:t>It's about ecosystems collaborating across strengths.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alibri"/>
              </a:defRPr>
            </a:pPr>
            <a:r>
              <a:t>Wallace Espindola | speakerdeck.com/wallacese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D43B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Happy 35th birthday, Python!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10698480" cy="254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Wallace Espindola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Senior Software Engineer | Brussels, Belgium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rPr sz="1500" b="1">
                <a:solidFill>
                  <a:srgbClr val="4B8BBE"/>
                </a:solidFill>
                <a:latin typeface="Calibri"/>
              </a:rPr>
              <a:t>GitHub:  </a:t>
            </a:r>
            <a:r>
              <a:rPr sz="1500">
                <a:solidFill>
                  <a:srgbClr val="C9D1D9"/>
                </a:solidFill>
                <a:latin typeface="Calibri"/>
              </a:rPr>
              <a:t>github.com/wallaceespindola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645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rPr sz="1500" b="1">
                <a:solidFill>
                  <a:srgbClr val="4B8BBE"/>
                </a:solidFill>
                <a:latin typeface="Calibri"/>
              </a:rPr>
              <a:t>LinkedIn:  </a:t>
            </a:r>
            <a:r>
              <a:rPr sz="1500">
                <a:solidFill>
                  <a:srgbClr val="C9D1D9"/>
                </a:solidFill>
                <a:latin typeface="Calibri"/>
              </a:rPr>
              <a:t>linkedin.com/in/wallaceespindola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9926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rPr sz="1500" b="1">
                <a:solidFill>
                  <a:srgbClr val="4B8BBE"/>
                </a:solidFill>
                <a:latin typeface="Calibri"/>
              </a:rPr>
              <a:t>Medium:  </a:t>
            </a:r>
            <a:r>
              <a:rPr sz="1500">
                <a:solidFill>
                  <a:srgbClr val="C9D1D9"/>
                </a:solidFill>
                <a:latin typeface="Calibri"/>
              </a:rPr>
              <a:t>medium.com/@wallaceespindola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3400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rPr sz="1500" b="1">
                <a:solidFill>
                  <a:srgbClr val="4B8BBE"/>
                </a:solidFill>
                <a:latin typeface="Calibri"/>
              </a:rPr>
              <a:t>Dev.to:  </a:t>
            </a:r>
            <a:r>
              <a:rPr sz="1500">
                <a:solidFill>
                  <a:srgbClr val="C9D1D9"/>
                </a:solidFill>
                <a:latin typeface="Calibri"/>
              </a:rPr>
              <a:t>dev.to/wallaceespindola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687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rPr sz="1500" b="1">
                <a:solidFill>
                  <a:srgbClr val="4B8BBE"/>
                </a:solidFill>
                <a:latin typeface="Calibri"/>
              </a:rPr>
              <a:t>Speaker Deck:  </a:t>
            </a:r>
            <a:r>
              <a:rPr sz="1500">
                <a:solidFill>
                  <a:srgbClr val="C9D1D9"/>
                </a:solidFill>
                <a:latin typeface="Calibri"/>
              </a:rPr>
              <a:t>speakerdeck.com/wallacese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